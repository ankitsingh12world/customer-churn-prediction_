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8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690F-3AC3-4290-8025-90983AA9EAD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C429F-3C48-4C63-8503-9B44517D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72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690F-3AC3-4290-8025-90983AA9EAD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C429F-3C48-4C63-8503-9B44517D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43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690F-3AC3-4290-8025-90983AA9EAD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C429F-3C48-4C63-8503-9B44517D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38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690F-3AC3-4290-8025-90983AA9EAD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C429F-3C48-4C63-8503-9B44517D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492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690F-3AC3-4290-8025-90983AA9EAD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C429F-3C48-4C63-8503-9B44517D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310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690F-3AC3-4290-8025-90983AA9EAD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C429F-3C48-4C63-8503-9B44517D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455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690F-3AC3-4290-8025-90983AA9EAD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C429F-3C48-4C63-8503-9B44517D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494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690F-3AC3-4290-8025-90983AA9EAD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C429F-3C48-4C63-8503-9B44517D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698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690F-3AC3-4290-8025-90983AA9EAD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C429F-3C48-4C63-8503-9B44517D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286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690F-3AC3-4290-8025-90983AA9EAD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C429F-3C48-4C63-8503-9B44517D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700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690F-3AC3-4290-8025-90983AA9EAD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C429F-3C48-4C63-8503-9B44517D5B9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4797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690F-3AC3-4290-8025-90983AA9EAD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C429F-3C48-4C63-8503-9B44517D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944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690F-3AC3-4290-8025-90983AA9EAD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C429F-3C48-4C63-8503-9B44517D5B9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99971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690F-3AC3-4290-8025-90983AA9EAD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C429F-3C48-4C63-8503-9B44517D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47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690F-3AC3-4290-8025-90983AA9EAD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C429F-3C48-4C63-8503-9B44517D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6640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690F-3AC3-4290-8025-90983AA9EAD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C429F-3C48-4C63-8503-9B44517D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87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8690F-3AC3-4290-8025-90983AA9EAD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B6C429F-3C48-4C63-8503-9B44517D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27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9E0A8-9A1E-FDCC-6FDC-14B309229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22514"/>
          </a:xfrm>
        </p:spPr>
        <p:txBody>
          <a:bodyPr>
            <a:normAutofit fontScale="90000"/>
          </a:bodyPr>
          <a:lstStyle/>
          <a:p>
            <a:r>
              <a:rPr lang="en-US" sz="4800" b="1" dirty="0"/>
              <a:t>Customer Churn Prediction System</a:t>
            </a:r>
            <a:br>
              <a:rPr lang="en-US" sz="4800" dirty="0"/>
            </a:br>
            <a:r>
              <a:rPr lang="en-US" sz="4800" dirty="0"/>
              <a:t>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D2711F-BAC9-FE96-2044-F5FAC04E6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13124"/>
            <a:ext cx="9144000" cy="1235433"/>
          </a:xfrm>
        </p:spPr>
        <p:txBody>
          <a:bodyPr>
            <a:noAutofit/>
          </a:bodyPr>
          <a:lstStyle/>
          <a:p>
            <a:r>
              <a:rPr lang="en-US" sz="2000" dirty="0"/>
              <a:t>End-to-End Churn Prediction and Deployment using Machine Learning</a:t>
            </a:r>
          </a:p>
          <a:p>
            <a:endParaRPr lang="en-US" sz="2000" dirty="0"/>
          </a:p>
          <a:p>
            <a:endParaRPr lang="en-US" sz="2000" dirty="0"/>
          </a:p>
          <a:p>
            <a:pPr algn="r"/>
            <a:br>
              <a:rPr lang="en-US" sz="2000" dirty="0"/>
            </a:br>
            <a:r>
              <a:rPr lang="en-US" sz="2000" dirty="0"/>
              <a:t>By: Ankit Kumar Singh</a:t>
            </a:r>
          </a:p>
        </p:txBody>
      </p:sp>
    </p:spTree>
    <p:extLst>
      <p:ext uri="{BB962C8B-B14F-4D97-AF65-F5344CB8AC3E}">
        <p14:creationId xmlns:p14="http://schemas.microsoft.com/office/powerpoint/2010/main" val="3335585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AE6FD-4C02-CBAA-E532-75F2EA4D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F2858-32A6-F397-4416-0C0B66C11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30013"/>
            <a:ext cx="11016916" cy="324694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Customer churn is a problem that many businesses are facing right now, and losing customers can result in a loss of revenue and stunted growth. To avoid this, businesses need a system to anticipate which customers are most likely to churn, and to act to prevent it before it happens. In this project we will build a machine learning model to predict customer churn, using a variety of behavioral and demographic features. In this project, we aim to build a machine learning model that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295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29C65-E515-A386-EC5D-CAFA6807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ADA3A-C692-71F7-B68C-E7C182777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447" y="2661367"/>
            <a:ext cx="10327105" cy="3436186"/>
          </a:xfrm>
        </p:spPr>
        <p:txBody>
          <a:bodyPr>
            <a:normAutofit/>
          </a:bodyPr>
          <a:lstStyle/>
          <a:p>
            <a:r>
              <a:rPr lang="en-US" b="1" dirty="0"/>
              <a:t>Content:</a:t>
            </a:r>
          </a:p>
          <a:p>
            <a:r>
              <a:rPr lang="en-US" sz="2400" dirty="0"/>
              <a:t>Developed a Machine Learning model to predict customer churn </a:t>
            </a:r>
          </a:p>
          <a:p>
            <a:r>
              <a:rPr lang="en-US" sz="2400" dirty="0"/>
              <a:t>Uses customer data such as usage patterns, support calls, and payment behavior </a:t>
            </a:r>
          </a:p>
          <a:p>
            <a:r>
              <a:rPr lang="en-US" sz="2400" dirty="0"/>
              <a:t>Identifies high-risk customers before they leave </a:t>
            </a:r>
          </a:p>
          <a:p>
            <a:r>
              <a:rPr lang="en-US" sz="2400" dirty="0"/>
              <a:t>Enables businesses to take proactive actions like offers and support </a:t>
            </a:r>
          </a:p>
          <a:p>
            <a:r>
              <a:rPr lang="en-US" sz="2400" dirty="0"/>
              <a:t>Deployed using </a:t>
            </a:r>
            <a:r>
              <a:rPr lang="en-US" sz="2400" dirty="0" err="1"/>
              <a:t>Streamlit</a:t>
            </a:r>
            <a:r>
              <a:rPr lang="en-US" sz="2400" dirty="0"/>
              <a:t> for real-time prediction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344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F36C8-85C9-54CD-D142-6D0C386BD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B6979-873C-1E08-7713-C07AF1A95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dataset consists of customer demographic and behavioral information It includes key features such as: </a:t>
            </a:r>
            <a:r>
              <a:rPr lang="en-US" b="1" dirty="0"/>
              <a:t>Demographics:</a:t>
            </a:r>
            <a:r>
              <a:rPr lang="en-US" dirty="0"/>
              <a:t> Age, Gender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Usage Patterns:</a:t>
            </a:r>
            <a:r>
              <a:rPr lang="en-US" dirty="0"/>
              <a:t> Tenure, Usage Frequency </a:t>
            </a:r>
          </a:p>
          <a:p>
            <a:r>
              <a:rPr lang="en-US" b="1" dirty="0"/>
              <a:t>Customer Behavior:</a:t>
            </a:r>
            <a:r>
              <a:rPr lang="en-US" dirty="0"/>
              <a:t> Support Calls, Payment Delay </a:t>
            </a:r>
          </a:p>
          <a:p>
            <a:r>
              <a:rPr lang="en-US" b="1" dirty="0"/>
              <a:t>Subscription Details:</a:t>
            </a:r>
            <a:r>
              <a:rPr lang="en-US" dirty="0"/>
              <a:t> Subscription Type, Contract Length </a:t>
            </a:r>
          </a:p>
          <a:p>
            <a:r>
              <a:rPr lang="en-US" b="1" dirty="0"/>
              <a:t>Financial Information:</a:t>
            </a:r>
            <a:r>
              <a:rPr lang="en-US" dirty="0"/>
              <a:t> Total Spend, Last Interaction </a:t>
            </a:r>
          </a:p>
          <a:p>
            <a:r>
              <a:rPr lang="en-US" b="1" dirty="0"/>
              <a:t>Target Variable:</a:t>
            </a:r>
            <a:r>
              <a:rPr lang="en-US" dirty="0"/>
              <a:t> Churn</a:t>
            </a:r>
          </a:p>
          <a:p>
            <a:pPr marL="0" indent="0">
              <a:buNone/>
            </a:pPr>
            <a:r>
              <a:rPr lang="en-US" dirty="0"/>
              <a:t>                                            0 → No Churn </a:t>
            </a:r>
          </a:p>
          <a:p>
            <a:pPr marL="0" indent="0">
              <a:buNone/>
            </a:pPr>
            <a:r>
              <a:rPr lang="en-US" dirty="0"/>
              <a:t>                                            1 → Churn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76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FF4E3-B2AE-7BB8-F24E-5B1A1D7BF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677B1-99FF-CE2C-656D-16263B185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8065"/>
            <a:ext cx="10278979" cy="3234812"/>
          </a:xfrm>
        </p:spPr>
        <p:txBody>
          <a:bodyPr>
            <a:normAutofit fontScale="92500"/>
          </a:bodyPr>
          <a:lstStyle/>
          <a:p>
            <a:r>
              <a:rPr lang="en-US" sz="2000" dirty="0"/>
              <a:t>Performed data preprocessing by handling missing values and removing irrelevant features</a:t>
            </a:r>
          </a:p>
          <a:p>
            <a:r>
              <a:rPr lang="en-US" sz="2000" dirty="0"/>
              <a:t>Conducted Exploratory Data Analysis (EDA) to understand data patterns and relationships</a:t>
            </a:r>
          </a:p>
          <a:p>
            <a:r>
              <a:rPr lang="en-US" sz="2000" dirty="0"/>
              <a:t>Applied feature engineering techniques including encoding of categorical variables</a:t>
            </a:r>
          </a:p>
          <a:p>
            <a:r>
              <a:rPr lang="en-US" sz="2000" dirty="0"/>
              <a:t>Split the dataset into training, validation, and testing sets</a:t>
            </a:r>
          </a:p>
          <a:p>
            <a:r>
              <a:rPr lang="en-US" sz="2000" dirty="0"/>
              <a:t>Trained multiple machine learning models and compared their performance</a:t>
            </a:r>
          </a:p>
          <a:p>
            <a:r>
              <a:rPr lang="en-US" sz="2000" dirty="0"/>
              <a:t>Evaluated models using metrics such as accuracy, precision, recall, and F1-score</a:t>
            </a:r>
          </a:p>
          <a:p>
            <a:r>
              <a:rPr lang="en-US" sz="2000" dirty="0"/>
              <a:t>Deployed the final model using </a:t>
            </a:r>
            <a:r>
              <a:rPr lang="en-US" sz="2000" dirty="0" err="1"/>
              <a:t>Streamlit</a:t>
            </a:r>
            <a:r>
              <a:rPr lang="en-US" sz="2000" dirty="0"/>
              <a:t> for real-time prediction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94093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59E4F-AB63-313B-4311-5CA8CEDEE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3BD7E-F20D-DC77-C219-E6389847E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20360"/>
            <a:ext cx="11353800" cy="3628691"/>
          </a:xfrm>
        </p:spPr>
        <p:txBody>
          <a:bodyPr/>
          <a:lstStyle/>
          <a:p>
            <a:r>
              <a:rPr lang="en-US" dirty="0"/>
              <a:t>The dataset exhibits class imbalance in the churn distribution</a:t>
            </a:r>
          </a:p>
          <a:p>
            <a:r>
              <a:rPr lang="en-US" dirty="0"/>
              <a:t>Customers with </a:t>
            </a:r>
            <a:r>
              <a:rPr lang="en-US" b="1" dirty="0"/>
              <a:t>monthly contracts</a:t>
            </a:r>
            <a:r>
              <a:rPr lang="en-US" dirty="0"/>
              <a:t> show a higher tendency to churn </a:t>
            </a:r>
          </a:p>
          <a:p>
            <a:r>
              <a:rPr lang="en-US" dirty="0"/>
              <a:t>An increased number of </a:t>
            </a:r>
            <a:r>
              <a:rPr lang="en-US" b="1" dirty="0"/>
              <a:t>support calls</a:t>
            </a:r>
            <a:r>
              <a:rPr lang="en-US" dirty="0"/>
              <a:t> is strongly associated with higher churn rates</a:t>
            </a:r>
          </a:p>
          <a:p>
            <a:r>
              <a:rPr lang="en-US" b="1" dirty="0"/>
              <a:t>Payment delays</a:t>
            </a:r>
            <a:r>
              <a:rPr lang="en-US" dirty="0"/>
              <a:t> significantly contribute to customer churn</a:t>
            </a:r>
          </a:p>
          <a:p>
            <a:r>
              <a:rPr lang="en-US" dirty="0"/>
              <a:t>Customers with </a:t>
            </a:r>
            <a:r>
              <a:rPr lang="en-US" b="1" dirty="0"/>
              <a:t>lower tenure</a:t>
            </a:r>
            <a:r>
              <a:rPr lang="en-US" dirty="0"/>
              <a:t> are more likely to leave the service</a:t>
            </a:r>
          </a:p>
        </p:txBody>
      </p:sp>
    </p:spTree>
    <p:extLst>
      <p:ext uri="{BB962C8B-B14F-4D97-AF65-F5344CB8AC3E}">
        <p14:creationId xmlns:p14="http://schemas.microsoft.com/office/powerpoint/2010/main" val="2680299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17F24-117B-32FB-2C1F-8120CC66F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8251D-544F-C8EE-AC0B-655560219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846" y="2641702"/>
            <a:ext cx="9476874" cy="3083259"/>
          </a:xfrm>
        </p:spPr>
        <p:txBody>
          <a:bodyPr/>
          <a:lstStyle/>
          <a:p>
            <a:r>
              <a:rPr lang="en-US" dirty="0"/>
              <a:t>Logistic Regression </a:t>
            </a:r>
          </a:p>
          <a:p>
            <a:r>
              <a:rPr lang="en-US" dirty="0"/>
              <a:t>Naive Bayes </a:t>
            </a:r>
          </a:p>
          <a:p>
            <a:r>
              <a:rPr lang="en-US" dirty="0"/>
              <a:t>K-Nearest Neighbors (KNN) </a:t>
            </a:r>
          </a:p>
          <a:p>
            <a:r>
              <a:rPr lang="en-US" dirty="0"/>
              <a:t>Decision Tree</a:t>
            </a:r>
          </a:p>
          <a:p>
            <a:r>
              <a:rPr lang="en-US" dirty="0"/>
              <a:t> Random Forest</a:t>
            </a:r>
          </a:p>
        </p:txBody>
      </p:sp>
    </p:spTree>
    <p:extLst>
      <p:ext uri="{BB962C8B-B14F-4D97-AF65-F5344CB8AC3E}">
        <p14:creationId xmlns:p14="http://schemas.microsoft.com/office/powerpoint/2010/main" val="3068652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9BFCF-FDBE-5557-1576-28C8789AE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Hyperparameter Tuning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D1B99-43F4-971B-4DCC-FD1B9BB8B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Performed hyperparameter tuning to improve model performance</a:t>
            </a:r>
          </a:p>
          <a:p>
            <a:r>
              <a:rPr lang="en-US" dirty="0"/>
              <a:t>Used </a:t>
            </a:r>
            <a:r>
              <a:rPr lang="en-US" b="1" dirty="0"/>
              <a:t>GridSearchCV</a:t>
            </a:r>
            <a:r>
              <a:rPr lang="en-US" dirty="0"/>
              <a:t> to find optimal parameter combinations</a:t>
            </a:r>
          </a:p>
          <a:p>
            <a:r>
              <a:rPr lang="en-US" dirty="0"/>
              <a:t>Tuned key parameters for different models:</a:t>
            </a:r>
          </a:p>
          <a:p>
            <a:r>
              <a:rPr lang="en-US" b="1" dirty="0"/>
              <a:t>Logistic Regression:</a:t>
            </a:r>
            <a:r>
              <a:rPr lang="en-US" dirty="0"/>
              <a:t> Regularization strength (C), max iterations</a:t>
            </a:r>
          </a:p>
          <a:p>
            <a:r>
              <a:rPr lang="en-US" dirty="0"/>
              <a:t> </a:t>
            </a:r>
            <a:r>
              <a:rPr lang="en-US" b="1" dirty="0"/>
              <a:t>KNN:</a:t>
            </a:r>
            <a:r>
              <a:rPr lang="en-US" dirty="0"/>
              <a:t> Number of neighbors, distance weighting</a:t>
            </a:r>
          </a:p>
          <a:p>
            <a:r>
              <a:rPr lang="en-US" dirty="0"/>
              <a:t> </a:t>
            </a:r>
            <a:r>
              <a:rPr lang="en-US" b="1" dirty="0"/>
              <a:t>Decision Tree:</a:t>
            </a:r>
            <a:r>
              <a:rPr lang="en-US" dirty="0"/>
              <a:t> Tree depth, minimum samples split </a:t>
            </a:r>
          </a:p>
          <a:p>
            <a:r>
              <a:rPr lang="en-US" b="1" dirty="0"/>
              <a:t>Random Forest:</a:t>
            </a:r>
            <a:r>
              <a:rPr lang="en-US" dirty="0"/>
              <a:t> Number of estimators, depth, split criteria</a:t>
            </a:r>
          </a:p>
          <a:p>
            <a:r>
              <a:rPr lang="en-US" dirty="0"/>
              <a:t>Selected the best parameters based on </a:t>
            </a:r>
            <a:r>
              <a:rPr lang="en-US" b="1" dirty="0"/>
              <a:t>F1-score and cross-validation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679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548D6-0CA6-58CD-A176-A1A320A92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0BE44-5717-B043-117D-2FF5E6F2F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845" y="2838348"/>
            <a:ext cx="10515600" cy="3773070"/>
          </a:xfrm>
        </p:spPr>
        <p:txBody>
          <a:bodyPr/>
          <a:lstStyle/>
          <a:p>
            <a:r>
              <a:rPr lang="en-US" dirty="0"/>
              <a:t>valuated models using multiple performance metrics </a:t>
            </a:r>
          </a:p>
          <a:p>
            <a:r>
              <a:rPr lang="en-US" b="1" dirty="0"/>
              <a:t>Random Forest</a:t>
            </a:r>
            <a:r>
              <a:rPr lang="en-US" dirty="0"/>
              <a:t> achieved the best overall performance </a:t>
            </a:r>
          </a:p>
          <a:p>
            <a:r>
              <a:rPr lang="en-US" b="1" dirty="0"/>
              <a:t>Accuracy:</a:t>
            </a:r>
            <a:r>
              <a:rPr lang="en-US" dirty="0"/>
              <a:t> 94% </a:t>
            </a:r>
          </a:p>
          <a:p>
            <a:r>
              <a:rPr lang="en-US" b="1" dirty="0"/>
              <a:t>Precision:</a:t>
            </a:r>
            <a:r>
              <a:rPr lang="en-US" dirty="0"/>
              <a:t> 0.90</a:t>
            </a:r>
          </a:p>
          <a:p>
            <a:r>
              <a:rPr lang="en-US" dirty="0"/>
              <a:t> </a:t>
            </a:r>
            <a:r>
              <a:rPr lang="en-US" b="1" dirty="0"/>
              <a:t>Recall:</a:t>
            </a:r>
            <a:r>
              <a:rPr lang="en-US" dirty="0"/>
              <a:t> 1.00 </a:t>
            </a:r>
          </a:p>
          <a:p>
            <a:r>
              <a:rPr lang="en-US" b="1" dirty="0"/>
              <a:t>F1-score:</a:t>
            </a:r>
            <a:r>
              <a:rPr lang="en-US" dirty="0"/>
              <a:t> 0.95</a:t>
            </a:r>
          </a:p>
        </p:txBody>
      </p:sp>
    </p:spTree>
    <p:extLst>
      <p:ext uri="{BB962C8B-B14F-4D97-AF65-F5344CB8AC3E}">
        <p14:creationId xmlns:p14="http://schemas.microsoft.com/office/powerpoint/2010/main" val="1630488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E301B-3148-912C-A91D-7763CB3EB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EB6DA-9201-54AA-A52B-E5CF948F7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The model achieves a high number of </a:t>
            </a:r>
            <a:r>
              <a:rPr lang="en-US" sz="2000" b="1" dirty="0"/>
              <a:t>True Positives</a:t>
            </a:r>
            <a:r>
              <a:rPr lang="en-US" sz="2000" dirty="0"/>
              <a:t>, indicating strong churn detection</a:t>
            </a:r>
          </a:p>
          <a:p>
            <a:r>
              <a:rPr lang="en-US" sz="2000" dirty="0"/>
              <a:t>The number of </a:t>
            </a:r>
            <a:r>
              <a:rPr lang="en-US" sz="2000" b="1" dirty="0"/>
              <a:t>False Negatives is very low</a:t>
            </a:r>
            <a:r>
              <a:rPr lang="en-US" sz="2000" dirty="0"/>
              <a:t>, meaning most churn customers are correctly identified</a:t>
            </a:r>
          </a:p>
          <a:p>
            <a:r>
              <a:rPr lang="en-US" sz="2000" dirty="0"/>
              <a:t>Some </a:t>
            </a:r>
            <a:r>
              <a:rPr lang="en-US" sz="2000" b="1" dirty="0"/>
              <a:t>False Positives</a:t>
            </a:r>
            <a:r>
              <a:rPr lang="en-US" sz="2000" dirty="0"/>
              <a:t> are observed, which may lead to unnecessary retention actions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312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C2AF1-4ACC-ABB2-C664-17C305F81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97A6D1-70C6-37D3-746B-666D72E26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5278" y="2160588"/>
            <a:ext cx="4801481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599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C5498-C38F-6C51-96F0-FCF962094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838200" y="0"/>
            <a:ext cx="10527890" cy="52111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tx1"/>
                </a:solidFill>
              </a:rPr>
              <a:t>Streamlit</a:t>
            </a:r>
            <a:r>
              <a:rPr lang="en-US" dirty="0">
                <a:solidFill>
                  <a:schemeClr val="tx1"/>
                </a:solidFill>
              </a:rPr>
              <a:t> Application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113CFD-0EAE-0A47-4C46-FD4B5C31B0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1084" y="850428"/>
            <a:ext cx="4513006" cy="5191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54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91C56-04D1-404C-A18F-A4D326778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(</a:t>
            </a:r>
            <a:r>
              <a:rPr lang="en-US" dirty="0" err="1"/>
              <a:t>Streamlit</a:t>
            </a:r>
            <a:r>
              <a:rPr lang="en-US" dirty="0"/>
              <a:t> Application)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7C042-8E02-FEE6-273D-2F70F060D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23" y="3162812"/>
            <a:ext cx="11353800" cy="3051175"/>
          </a:xfrm>
        </p:spPr>
        <p:txBody>
          <a:bodyPr/>
          <a:lstStyle/>
          <a:p>
            <a:r>
              <a:rPr lang="en-US" dirty="0"/>
              <a:t>The trained machine learning model was deployed using </a:t>
            </a:r>
            <a:r>
              <a:rPr lang="en-US" b="1" dirty="0" err="1"/>
              <a:t>Streamlit</a:t>
            </a:r>
            <a:r>
              <a:rPr lang="en-US" dirty="0"/>
              <a:t> </a:t>
            </a:r>
          </a:p>
          <a:p>
            <a:r>
              <a:rPr lang="en-US" dirty="0"/>
              <a:t>An interactive user interface was developed for easy input of customer data </a:t>
            </a:r>
          </a:p>
          <a:p>
            <a:r>
              <a:rPr lang="en-US" dirty="0"/>
              <a:t>The application processes user inputs and applies the trained model for prediction </a:t>
            </a:r>
          </a:p>
          <a:p>
            <a:r>
              <a:rPr lang="en-US" dirty="0"/>
              <a:t>Provides real-time churn prediction along with probability </a:t>
            </a:r>
          </a:p>
          <a:p>
            <a:r>
              <a:rPr lang="en-US" dirty="0"/>
              <a:t>Designed to be simple, efficient, and user-friendly</a:t>
            </a:r>
          </a:p>
        </p:txBody>
      </p:sp>
    </p:spTree>
    <p:extLst>
      <p:ext uri="{BB962C8B-B14F-4D97-AF65-F5344CB8AC3E}">
        <p14:creationId xmlns:p14="http://schemas.microsoft.com/office/powerpoint/2010/main" val="4175680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460C3-FEB4-A9D8-9059-F4302A224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06F08-5992-A6C1-5443-955DEA0C7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045" y="2936670"/>
            <a:ext cx="11081084" cy="3724943"/>
          </a:xfrm>
        </p:spPr>
        <p:txBody>
          <a:bodyPr/>
          <a:lstStyle/>
          <a:p>
            <a:r>
              <a:rPr lang="en-US" dirty="0"/>
              <a:t>Successfully developed a machine learning model to predict customer churn </a:t>
            </a:r>
          </a:p>
          <a:p>
            <a:r>
              <a:rPr lang="en-US" dirty="0"/>
              <a:t>Random Forest achieved the best performance among all models</a:t>
            </a:r>
          </a:p>
          <a:p>
            <a:r>
              <a:rPr lang="en-US" dirty="0"/>
              <a:t> The model demonstrates strong ability to identify churn customers</a:t>
            </a:r>
          </a:p>
          <a:p>
            <a:r>
              <a:rPr lang="en-US" dirty="0"/>
              <a:t> Deployed the model using </a:t>
            </a:r>
            <a:r>
              <a:rPr lang="en-US" dirty="0" err="1"/>
              <a:t>Streamlit</a:t>
            </a:r>
            <a:r>
              <a:rPr lang="en-US" dirty="0"/>
              <a:t> for real-time prediction</a:t>
            </a:r>
          </a:p>
          <a:p>
            <a:r>
              <a:rPr lang="en-US" dirty="0"/>
              <a:t>The solution can help businesses improve customer retention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385789057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</TotalTime>
  <Words>629</Words>
  <Application>Microsoft Office PowerPoint</Application>
  <PresentationFormat>Widescreen</PresentationFormat>
  <Paragraphs>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Customer Churn Prediction System Using Machine Learning</vt:lpstr>
      <vt:lpstr>Problem Statement</vt:lpstr>
      <vt:lpstr>Solution</vt:lpstr>
      <vt:lpstr>Dataset Overview</vt:lpstr>
      <vt:lpstr>Methodology</vt:lpstr>
      <vt:lpstr>Key Insights</vt:lpstr>
      <vt:lpstr>Models Used</vt:lpstr>
      <vt:lpstr>Hyperparameter Tuning </vt:lpstr>
      <vt:lpstr>Model Performance</vt:lpstr>
      <vt:lpstr>Confusion Matrix</vt:lpstr>
      <vt:lpstr>Confusion Matrix</vt:lpstr>
      <vt:lpstr>Streamlit Application</vt:lpstr>
      <vt:lpstr>Deployment (Streamlit Application)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 wins</dc:creator>
  <cp:lastModifiedBy>singh wins</cp:lastModifiedBy>
  <cp:revision>1</cp:revision>
  <dcterms:created xsi:type="dcterms:W3CDTF">2026-04-26T18:00:52Z</dcterms:created>
  <dcterms:modified xsi:type="dcterms:W3CDTF">2026-04-26T18:05:29Z</dcterms:modified>
</cp:coreProperties>
</file>